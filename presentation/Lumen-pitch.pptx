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965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Lumen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914400" y="32461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home energy, handled.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another dashboard. An assistant that tells you what to do.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Enpal track   ·   iOS app + TypeScript backend   ·   voice in, voice out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185855" y="457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home got smart. Making sense of it didn't.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Solar, a battery, a heat pump, an EV, a dynamic tariff, and a contract nobody reads —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across four apps and a PDF.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two things happen: people </a:t>
            </a:r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know how to act</a:t>
            </a:r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they </a:t>
            </a:r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up trying.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0" y="18288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75120" y="2331720"/>
            <a:ext cx="310896" cy="310896"/>
          </a:xfrm>
          <a:prstGeom prst="ellipse">
            <a:avLst/>
          </a:prstGeom>
          <a:solidFill>
            <a:srgbClr val="0F211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0" y="182880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235440" y="18288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09760" y="2331720"/>
            <a:ext cx="310896" cy="310896"/>
          </a:xfrm>
          <a:prstGeom prst="ellipse">
            <a:avLst/>
          </a:prstGeom>
          <a:solidFill>
            <a:srgbClr val="0F211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66960" y="182880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0" y="34290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75120" y="3931920"/>
            <a:ext cx="310896" cy="310896"/>
          </a:xfrm>
          <a:prstGeom prst="ellipse">
            <a:avLst/>
          </a:prstGeom>
          <a:solidFill>
            <a:srgbClr val="0F211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0" y="342900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pump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235440" y="34290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509760" y="3931920"/>
            <a:ext cx="310896" cy="310896"/>
          </a:xfrm>
          <a:prstGeom prst="ellipse">
            <a:avLst/>
          </a:prstGeom>
          <a:solidFill>
            <a:srgbClr val="0F211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66960" y="342900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400800" y="5029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75120" y="5532120"/>
            <a:ext cx="310896" cy="310896"/>
          </a:xfrm>
          <a:prstGeom prst="ellipse">
            <a:avLst/>
          </a:prstGeom>
          <a:solidFill>
            <a:srgbClr val="0F211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0" y="502920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tariff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9235440" y="5029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509760" y="5532120"/>
            <a:ext cx="310896" cy="310896"/>
          </a:xfrm>
          <a:prstGeom prst="ellipse">
            <a:avLst/>
          </a:prstGeom>
          <a:solidFill>
            <a:srgbClr val="0F211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66960" y="5029200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LANDSCAPE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185855" y="457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Everyone is one of two things — and one seat is empty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Silent automators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2880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for you — and never tell you why.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Enpal · Tibber · Octopus · 1KOMMA5°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09360" y="210312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3317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583680" y="28803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you interpret yourself.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3566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SolarEdge · Fronius · SMA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40080" y="470916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F211B"/>
          </a:solidFill>
          <a:ln w="15875">
            <a:solidFill>
              <a:srgbClr val="34D399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4873752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empty seat — an assistant that </a:t>
            </a:r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forecasts, explains, advises, and converses</a:t>
            </a:r>
            <a:pPr indent="0" marL="0">
              <a:buNone/>
            </a:pPr>
            <a:r>
              <a:rPr lang="en-US" sz="18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plain language.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4400" y="5413248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That seat is Lumen.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SCORECARD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185855" y="457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Some do prices. Some do fault alerts. Nobody is an assistant.</a:t>
            </a:r>
            <a:endParaRPr lang="en-US" sz="3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00784"/>
                <a:gridCol w="1700784"/>
                <a:gridCol w="1700784"/>
                <a:gridCol w="1700784"/>
                <a:gridCol w="182880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B97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Forward prices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B97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advice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B97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B97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detection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8B97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Tells you what to 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22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AF0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Enpal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5B5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AF0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Tibber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AF0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Octopus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AF0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SolarEdge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AF0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5B5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5B5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AF0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1KOMMA5°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5B5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7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21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Lumen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A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5B5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A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A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A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A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4D3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52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A2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   ·   ~ partial / gated   ·   ✗ none   ·   ? unverified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217920" y="608076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two columns: empty for everyone but us.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TO BE DONE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185855" y="457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jobs. One happens every single day.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0F211B"/>
          </a:solidFill>
          <a:ln w="15875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116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554480" y="213969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my day on my own power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87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0560" y="230428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FREQUENT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081528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81528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7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54480" y="320954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still working?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5570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— fades fast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151376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151376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7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something broken?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6268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rare, expensive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5221224"/>
            <a:ext cx="6035040" cy="868680"/>
          </a:xfrm>
          <a:prstGeom prst="roundRect">
            <a:avLst>
              <a:gd name="adj" fmla="val 12632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21224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B77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554480" y="5349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tariff / contract?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56967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year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040880" y="2011680"/>
            <a:ext cx="4510735" cy="3246120"/>
          </a:xfrm>
          <a:prstGeom prst="roundRect">
            <a:avLst>
              <a:gd name="adj" fmla="val 338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040880" y="2286000"/>
            <a:ext cx="45107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−60%</a:t>
            </a:r>
            <a:endParaRPr lang="en-US" sz="8000" dirty="0"/>
          </a:p>
        </p:txBody>
      </p:sp>
      <p:sp>
        <p:nvSpPr>
          <p:cNvPr id="25" name="Text 23"/>
          <p:cNvSpPr/>
          <p:nvPr/>
        </p:nvSpPr>
        <p:spPr>
          <a:xfrm>
            <a:off x="7406640" y="3657600"/>
            <a:ext cx="3779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engagement drops within the first month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06640" y="4709160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Hargreaves et al., Energy Policy; in-home-display field studies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40880" y="5532120"/>
            <a:ext cx="4510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don't want to watch charts. They want the daily job done.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DECISION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185855" y="457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 the daily job is the home screen — and it comes to you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isn't a dashboard.</a:t>
            </a:r>
            <a:endParaRPr lang="en-US" sz="1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“tell me your day, I'll plan it around your sun.”</a:t>
            </a:r>
            <a:endParaRPr lang="en-US" sz="1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because people stop opening apps,</a:t>
            </a:r>
            <a:endParaRPr lang="en-US" sz="1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to you — a 7am briefing with the day's</a:t>
            </a:r>
            <a:endParaRPr lang="en-US" sz="1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 and anything to act on. The rare jobs</a:t>
            </a:r>
            <a:endParaRPr lang="en-US" sz="1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themselves.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766560" y="1874520"/>
            <a:ext cx="4754880" cy="4297680"/>
          </a:xfrm>
          <a:prstGeom prst="roundRect">
            <a:avLst>
              <a:gd name="adj" fmla="val 2553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086600" y="2240280"/>
            <a:ext cx="274320" cy="27432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0" y="216712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7:00  ·  Lumen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0" y="274320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Good morning — today's energy briefing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132320" y="35661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43800" y="35661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sun today — powering the house and exporting the surplus.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132320" y="41330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543800" y="4133088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power around 13:00. Battery at 100%.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32320" y="47000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543800" y="470001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track to earn about €1.80 selling solar back today.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320" y="5303520"/>
            <a:ext cx="4023360" cy="5486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0" y="5303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2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my day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1945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A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Plan your day by voice</a:t>
            </a:r>
            <a:endParaRPr lang="en-US" sz="2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A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See the plan — green is your own power</a:t>
            </a:r>
            <a:endParaRPr lang="en-US" sz="2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A9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It catches a fault, and explains it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· 1 OF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185855" y="457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catches a fault — not a hardcoded threshold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home's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history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it learns what the panels — or the heat pump — </a:t>
            </a:r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at each outdoor temperature, then flags a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break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that pattern.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~48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640080" y="4754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kWh / day for these sunny days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3383280"/>
            <a:ext cx="3383280" cy="1828800"/>
          </a:xfrm>
          <a:prstGeom prst="roundRect">
            <a:avLst>
              <a:gd name="adj" fmla="val 6000"/>
            </a:avLst>
          </a:prstGeom>
          <a:solidFill>
            <a:srgbClr val="0F211B"/>
          </a:solidFill>
          <a:ln w="15875">
            <a:solidFill>
              <a:srgbClr val="F270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97680" y="3657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97680" y="393192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70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21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4297680" y="4754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kWh / day, sustained 4 days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955280" y="3383280"/>
            <a:ext cx="3596335" cy="1828800"/>
          </a:xfrm>
          <a:prstGeom prst="roundRect">
            <a:avLst>
              <a:gd name="adj" fmla="val 600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3657600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shortfall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3931920"/>
            <a:ext cx="3596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270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−55%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8138160" y="4754880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“likely dirt or shading”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5577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Weather-normalized against your own home — it tells a cloudy day from dirty panels, and “it's just cold out” from a failing heat pump.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· 2 OF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185855" y="457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9601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Tools do the math. The model does the words.</a:t>
            </a:r>
            <a:endParaRPr lang="en-US" sz="3300" dirty="0"/>
          </a:p>
        </p:txBody>
      </p:sp>
      <p:pic>
        <p:nvPicPr>
          <p:cNvPr id="6" name="Image 0" descr="/Users/alexandergrosse/GitHub/Reonic-Hackathon/.claude/worktrees/sharp-brahmagupta-989dcc/presentation/architecture-b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057400"/>
            <a:ext cx="8046720" cy="386861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0" y="2011680"/>
            <a:ext cx="286481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phone only talks to our server.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turns speech into structured tasks — it never sees or invents a number.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8B9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prices and schedules everything; the anomaly evidence is itself a tool the model calls.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euros are correct and repeatable.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2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8B97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another dashboard.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68680" y="26060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assistant.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792328" y="42976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6648" y="4572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tariffs now mandatory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66648" y="5047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53% don't know they exist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4208" y="42976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78528" y="4572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Soiling quietly costs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78528" y="5047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~5% of generation a year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16088" y="42976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19221F"/>
          </a:solidFill>
          <a:ln w="9525">
            <a:solidFill>
              <a:srgbClr val="2B35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0408" y="4572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3 heat pumps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90408" y="5047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underperform — silently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448495" y="5943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AF0E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Lumen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 — 5-minute pitch</dc:title>
  <dc:subject>PptxGenJS Presentation</dc:subject>
  <dc:creator>Lumen</dc:creator>
  <cp:lastModifiedBy>Lumen</cp:lastModifiedBy>
  <cp:revision>1</cp:revision>
  <dcterms:created xsi:type="dcterms:W3CDTF">2026-06-21T12:31:52Z</dcterms:created>
  <dcterms:modified xsi:type="dcterms:W3CDTF">2026-06-21T12:31:52Z</dcterms:modified>
</cp:coreProperties>
</file>